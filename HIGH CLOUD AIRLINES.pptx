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7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5" r:id="rId18"/>
    <p:sldId id="267" r:id="rId19"/>
    <p:sldId id="288" r:id="rId20"/>
    <p:sldId id="272" r:id="rId21"/>
    <p:sldId id="273" r:id="rId22"/>
    <p:sldId id="274" r:id="rId23"/>
    <p:sldId id="275" r:id="rId24"/>
    <p:sldId id="281" r:id="rId25"/>
    <p:sldId id="289" r:id="rId26"/>
    <p:sldId id="284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A800"/>
    <a:srgbClr val="FFE64C"/>
    <a:srgbClr val="CCFF99"/>
    <a:srgbClr val="CC775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2269C-F6CF-4303-9183-0128DEF250A9}" v="2" dt="2026-01-15T18:03:39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ta ." userId="25e7c5827a7ac65a" providerId="LiveId" clId="{9CBF6AF0-B0F8-4EA0-B856-C8A647B08934}"/>
    <pc:docChg chg="custSel modSld">
      <pc:chgData name="ishta ." userId="25e7c5827a7ac65a" providerId="LiveId" clId="{9CBF6AF0-B0F8-4EA0-B856-C8A647B08934}" dt="2026-01-15T18:03:39.317" v="292" actId="931"/>
      <pc:docMkLst>
        <pc:docMk/>
      </pc:docMkLst>
      <pc:sldChg chg="modSp mod modTransition">
        <pc:chgData name="ishta ." userId="25e7c5827a7ac65a" providerId="LiveId" clId="{9CBF6AF0-B0F8-4EA0-B856-C8A647B08934}" dt="2026-01-13T15:40:28.812" v="56"/>
        <pc:sldMkLst>
          <pc:docMk/>
          <pc:sldMk cId="4107760814" sldId="256"/>
        </pc:sldMkLst>
        <pc:spChg chg="mod">
          <ac:chgData name="ishta ." userId="25e7c5827a7ac65a" providerId="LiveId" clId="{9CBF6AF0-B0F8-4EA0-B856-C8A647B08934}" dt="2026-01-13T15:39:09.519" v="53" actId="255"/>
          <ac:spMkLst>
            <pc:docMk/>
            <pc:sldMk cId="4107760814" sldId="256"/>
            <ac:spMk id="4" creationId="{F77FF9BE-5AF3-2704-F83E-2C59062FFC15}"/>
          </ac:spMkLst>
        </pc:spChg>
      </pc:sldChg>
      <pc:sldChg chg="modSp mod">
        <pc:chgData name="ishta ." userId="25e7c5827a7ac65a" providerId="LiveId" clId="{9CBF6AF0-B0F8-4EA0-B856-C8A647B08934}" dt="2026-01-13T16:20:53.415" v="258" actId="113"/>
        <pc:sldMkLst>
          <pc:docMk/>
          <pc:sldMk cId="314265375" sldId="260"/>
        </pc:sldMkLst>
        <pc:spChg chg="mod">
          <ac:chgData name="ishta ." userId="25e7c5827a7ac65a" providerId="LiveId" clId="{9CBF6AF0-B0F8-4EA0-B856-C8A647B08934}" dt="2026-01-13T16:20:53.415" v="258" actId="113"/>
          <ac:spMkLst>
            <pc:docMk/>
            <pc:sldMk cId="314265375" sldId="260"/>
            <ac:spMk id="9" creationId="{B86D2E5E-9D6E-BA6B-1703-F47048F5F793}"/>
          </ac:spMkLst>
        </pc:spChg>
      </pc:sldChg>
      <pc:sldChg chg="addSp delSp modSp mod">
        <pc:chgData name="ishta ." userId="25e7c5827a7ac65a" providerId="LiveId" clId="{9CBF6AF0-B0F8-4EA0-B856-C8A647B08934}" dt="2026-01-15T18:03:22.772" v="291" actId="1076"/>
        <pc:sldMkLst>
          <pc:docMk/>
          <pc:sldMk cId="3827931621" sldId="265"/>
        </pc:sldMkLst>
        <pc:spChg chg="mod">
          <ac:chgData name="ishta ." userId="25e7c5827a7ac65a" providerId="LiveId" clId="{9CBF6AF0-B0F8-4EA0-B856-C8A647B08934}" dt="2026-01-15T18:03:10.358" v="289" actId="1076"/>
          <ac:spMkLst>
            <pc:docMk/>
            <pc:sldMk cId="3827931621" sldId="265"/>
            <ac:spMk id="2" creationId="{49440E42-0113-7274-4845-D68F6EE46997}"/>
          </ac:spMkLst>
        </pc:spChg>
        <pc:picChg chg="add del mod">
          <ac:chgData name="ishta ." userId="25e7c5827a7ac65a" providerId="LiveId" clId="{9CBF6AF0-B0F8-4EA0-B856-C8A647B08934}" dt="2026-01-15T18:02:28.700" v="285" actId="478"/>
          <ac:picMkLst>
            <pc:docMk/>
            <pc:sldMk cId="3827931621" sldId="265"/>
            <ac:picMk id="4" creationId="{DDDFB6B2-FBD6-0B78-A3D7-E04AA83D3E08}"/>
          </ac:picMkLst>
        </pc:picChg>
        <pc:picChg chg="add mod">
          <ac:chgData name="ishta ." userId="25e7c5827a7ac65a" providerId="LiveId" clId="{9CBF6AF0-B0F8-4EA0-B856-C8A647B08934}" dt="2026-01-15T18:03:22.772" v="291" actId="1076"/>
          <ac:picMkLst>
            <pc:docMk/>
            <pc:sldMk cId="3827931621" sldId="265"/>
            <ac:picMk id="5" creationId="{1A18BE44-A90E-4C69-39FF-AD8784841984}"/>
          </ac:picMkLst>
        </pc:picChg>
      </pc:sldChg>
      <pc:sldChg chg="addSp delSp modSp mod">
        <pc:chgData name="ishta ." userId="25e7c5827a7ac65a" providerId="LiveId" clId="{9CBF6AF0-B0F8-4EA0-B856-C8A647B08934}" dt="2026-01-15T18:03:39.317" v="292" actId="931"/>
        <pc:sldMkLst>
          <pc:docMk/>
          <pc:sldMk cId="2375421463" sldId="266"/>
        </pc:sldMkLst>
        <pc:picChg chg="add del mod">
          <ac:chgData name="ishta ." userId="25e7c5827a7ac65a" providerId="LiveId" clId="{9CBF6AF0-B0F8-4EA0-B856-C8A647B08934}" dt="2026-01-15T18:02:33.395" v="286" actId="478"/>
          <ac:picMkLst>
            <pc:docMk/>
            <pc:sldMk cId="2375421463" sldId="266"/>
            <ac:picMk id="3" creationId="{C2C2852F-ED0C-48C2-57CC-14F0F5D3E0DE}"/>
          </ac:picMkLst>
        </pc:picChg>
        <pc:picChg chg="add mod">
          <ac:chgData name="ishta ." userId="25e7c5827a7ac65a" providerId="LiveId" clId="{9CBF6AF0-B0F8-4EA0-B856-C8A647B08934}" dt="2026-01-15T18:03:39.317" v="292" actId="931"/>
          <ac:picMkLst>
            <pc:docMk/>
            <pc:sldMk cId="2375421463" sldId="266"/>
            <ac:picMk id="4" creationId="{71D6811B-872A-536F-F4A0-69FB73AE926D}"/>
          </ac:picMkLst>
        </pc:picChg>
      </pc:sldChg>
      <pc:sldChg chg="modSp mod">
        <pc:chgData name="ishta ." userId="25e7c5827a7ac65a" providerId="LiveId" clId="{9CBF6AF0-B0F8-4EA0-B856-C8A647B08934}" dt="2026-01-13T16:10:21.771" v="128" actId="20577"/>
        <pc:sldMkLst>
          <pc:docMk/>
          <pc:sldMk cId="2481211405" sldId="277"/>
        </pc:sldMkLst>
        <pc:spChg chg="mod">
          <ac:chgData name="ishta ." userId="25e7c5827a7ac65a" providerId="LiveId" clId="{9CBF6AF0-B0F8-4EA0-B856-C8A647B08934}" dt="2026-01-13T16:10:21.771" v="128" actId="20577"/>
          <ac:spMkLst>
            <pc:docMk/>
            <pc:sldMk cId="2481211405" sldId="277"/>
            <ac:spMk id="11" creationId="{344F9E6A-0EC9-E430-29E7-6C5A14C550F7}"/>
          </ac:spMkLst>
        </pc:spChg>
      </pc:sldChg>
      <pc:sldChg chg="modSp mod">
        <pc:chgData name="ishta ." userId="25e7c5827a7ac65a" providerId="LiveId" clId="{9CBF6AF0-B0F8-4EA0-B856-C8A647B08934}" dt="2026-01-13T16:11:49.479" v="160" actId="20577"/>
        <pc:sldMkLst>
          <pc:docMk/>
          <pc:sldMk cId="2505981494" sldId="280"/>
        </pc:sldMkLst>
        <pc:spChg chg="mod">
          <ac:chgData name="ishta ." userId="25e7c5827a7ac65a" providerId="LiveId" clId="{9CBF6AF0-B0F8-4EA0-B856-C8A647B08934}" dt="2026-01-13T16:11:49.479" v="160" actId="20577"/>
          <ac:spMkLst>
            <pc:docMk/>
            <pc:sldMk cId="2505981494" sldId="280"/>
            <ac:spMk id="7" creationId="{18E1CA33-D446-0471-9076-05BA180580C7}"/>
          </ac:spMkLst>
        </pc:spChg>
      </pc:sldChg>
      <pc:sldChg chg="modSp mod">
        <pc:chgData name="ishta ." userId="25e7c5827a7ac65a" providerId="LiveId" clId="{9CBF6AF0-B0F8-4EA0-B856-C8A647B08934}" dt="2026-01-13T16:26:00.356" v="270" actId="113"/>
        <pc:sldMkLst>
          <pc:docMk/>
          <pc:sldMk cId="3457233456" sldId="281"/>
        </pc:sldMkLst>
        <pc:spChg chg="mod">
          <ac:chgData name="ishta ." userId="25e7c5827a7ac65a" providerId="LiveId" clId="{9CBF6AF0-B0F8-4EA0-B856-C8A647B08934}" dt="2026-01-13T16:26:00.356" v="270" actId="113"/>
          <ac:spMkLst>
            <pc:docMk/>
            <pc:sldMk cId="3457233456" sldId="281"/>
            <ac:spMk id="4" creationId="{73AC552F-83DB-6FDA-2A46-3F3E46C62005}"/>
          </ac:spMkLst>
        </pc:spChg>
      </pc:sldChg>
      <pc:sldChg chg="modSp mod">
        <pc:chgData name="ishta ." userId="25e7c5827a7ac65a" providerId="LiveId" clId="{9CBF6AF0-B0F8-4EA0-B856-C8A647B08934}" dt="2026-01-13T16:30:02.583" v="284" actId="20577"/>
        <pc:sldMkLst>
          <pc:docMk/>
          <pc:sldMk cId="2781724776" sldId="285"/>
        </pc:sldMkLst>
        <pc:spChg chg="mod">
          <ac:chgData name="ishta ." userId="25e7c5827a7ac65a" providerId="LiveId" clId="{9CBF6AF0-B0F8-4EA0-B856-C8A647B08934}" dt="2026-01-13T16:30:02.583" v="284" actId="20577"/>
          <ac:spMkLst>
            <pc:docMk/>
            <pc:sldMk cId="2781724776" sldId="285"/>
            <ac:spMk id="5" creationId="{BF971D7E-690E-DD26-9868-885D8DFA69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46D0-E35E-4041-94FC-9F2F7EC4CC1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B4FAE-AF0A-4235-862E-C9660E93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29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B4FAE-AF0A-4235-862E-C9660E93CD2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5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B4FAE-AF0A-4235-862E-C9660E93CD2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9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357F-14C1-80A7-4D01-DC373B181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86D73-C41D-F6E5-8824-6FD3A0AB2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F0FF-640A-2074-BE51-F5A5AF0F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5A0B-BDF1-E3E0-EB2C-149704E8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33474-013F-422C-3170-61502BAE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B5CF-2C07-58D5-6C60-68ED5262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649B-9898-4E17-CC64-39E984224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4BAA-1B12-4FF9-7F0A-52B7AF11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E4778-6919-19C1-E02A-1AA164B5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54E75-587D-C2B8-7D7E-49C619C8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05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F45D-410F-C36E-3CE5-5C0B0CBD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0180-4C33-A380-57FC-33C66431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7312B-81BD-599B-F618-2412F875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259D-63BE-43E9-A0BF-2E4AB0D4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44D84-BBF6-0E4D-0DC3-857F3C6A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84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690D-0752-2BA2-50CD-6250B13B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3D244-12E2-7B3A-717B-0610744DB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89B73-8FC6-F9C8-9599-CED522DCB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D5769-A48A-6C2F-0DFF-98BD63D1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C1878-AFAD-3173-C812-71540033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74F57-379D-0E4F-D9C3-ECC3ECA1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04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F094-CF5D-63F7-A235-04552712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6E6B1-D3DD-1EFC-117C-E27025A5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8F52A-0C68-D384-F7CF-F0F872F53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A84BB-A259-8DEE-33A1-6CDF87E17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E0709-C7CF-77A7-E7A5-1532AF361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D056E-2D53-A97F-DF28-B4882C1D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52B9A-849B-7C5E-F006-A7828A9D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17077-B4E7-48A4-B853-5CF85D9D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0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3665-077F-467E-2F9A-71343BFE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178230-36CD-F7CA-3E76-BBEF1B5D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25AF0-7E2D-A357-0161-27C9B0BB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F196B-227F-4606-E62B-4FCE371E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B0110-0FD5-2886-E08F-7F7410B6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55DFB-A970-0794-E893-002A7D8F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D0122-8B40-2D65-FC36-A402D4F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9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A0F3-E403-0340-E1AA-8F1D11FD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39390-2D75-BFB0-08C6-CA9EFDB7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931DA-2743-2074-7A34-148735D3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4A94B-EB6C-1680-24FE-173D4AF3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5B22B-17BE-11FF-7FE2-83951194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1BA26-776A-4C19-4D4A-77B3200A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30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5485-CB91-2D05-4334-DF67B3EE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963C7-1EB7-2137-2468-5C3F684C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C8FB0-F291-7FBA-9B46-30BF656F7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DC91B-2CAF-F747-8652-B65D47E5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459E0-5984-E028-C6B4-4C6CD528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D4562-64DF-965C-65A3-879FFEEB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52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7C9D-4DD8-589B-9FBA-323248E1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C590C-0321-E153-E60C-375EF8750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950B9-F299-7616-1B0C-0D0964C9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70CE-078E-923F-7D1F-6EA06BB2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5F145-6063-9996-B499-DA4CB96C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9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A634FD-ED06-9D7C-7E17-2FC1619E3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9536A-0BE4-96F8-EC60-4645E5EA6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E6FD4-CB5A-EBA8-1299-236CC8499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BDBE-39D3-74AE-3E4B-F46834AA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D9C11-BFC3-9AAB-CB57-C7F093A7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9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ECF6F-C6DE-8DC9-518D-2135C671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7D26E-9A94-26F5-55AF-9A920117D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442E-45C7-782C-B3F8-6E4BEB6B7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AA6BB-E195-4812-BAAE-E7003B45EEF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16D1B-EF9A-4F9F-B900-8DB1675AC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E97F-9EDB-678A-DC9A-EA42F4816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C10F7-E06B-4B5E-99A8-F0433F667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0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472AAB-B300-FA27-C8FD-FDE3C41C7018}"/>
              </a:ext>
            </a:extLst>
          </p:cNvPr>
          <p:cNvSpPr/>
          <p:nvPr/>
        </p:nvSpPr>
        <p:spPr>
          <a:xfrm>
            <a:off x="390525" y="1971675"/>
            <a:ext cx="11649075" cy="43529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FF9BE-5AF3-2704-F83E-2C59062F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974"/>
            <a:ext cx="10622732" cy="1631930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HIGH CLOUD AIRLINES</a:t>
            </a:r>
            <a:b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PROJECT</a:t>
            </a:r>
          </a:p>
        </p:txBody>
      </p:sp>
      <p:pic>
        <p:nvPicPr>
          <p:cNvPr id="7" name="Picture 6" descr="A silhouette of a person in a suit&#10;&#10;AI-generated content may be incorrect.">
            <a:extLst>
              <a:ext uri="{FF2B5EF4-FFF2-40B4-BE49-F238E27FC236}">
                <a16:creationId xmlns:a16="http://schemas.microsoft.com/office/drawing/2014/main" id="{3E335681-B588-011B-D995-1FB522340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024" y="3095381"/>
            <a:ext cx="1154911" cy="1154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8206AC-B888-1FEB-788B-4317AA3D3C94}"/>
              </a:ext>
            </a:extLst>
          </p:cNvPr>
          <p:cNvSpPr txBox="1"/>
          <p:nvPr/>
        </p:nvSpPr>
        <p:spPr>
          <a:xfrm>
            <a:off x="8406896" y="5064321"/>
            <a:ext cx="138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Chethan 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C04B0-7E9B-2CD5-78BB-D502F26E90A5}"/>
              </a:ext>
            </a:extLst>
          </p:cNvPr>
          <p:cNvSpPr txBox="1"/>
          <p:nvPr/>
        </p:nvSpPr>
        <p:spPr>
          <a:xfrm>
            <a:off x="4914935" y="3397931"/>
            <a:ext cx="201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Glavin S</a:t>
            </a:r>
          </a:p>
        </p:txBody>
      </p:sp>
      <p:pic>
        <p:nvPicPr>
          <p:cNvPr id="10" name="Picture 9" descr="A silhouette of a person in a suit&#10;&#10;AI-generated content may be incorrect.">
            <a:extLst>
              <a:ext uri="{FF2B5EF4-FFF2-40B4-BE49-F238E27FC236}">
                <a16:creationId xmlns:a16="http://schemas.microsoft.com/office/drawing/2014/main" id="{00259F19-FB65-CC3B-0067-261CCE6B0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76" y="3090952"/>
            <a:ext cx="1154911" cy="1154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B7BDB2-73F5-6B8D-EDA9-FF3C98E8BD06}"/>
              </a:ext>
            </a:extLst>
          </p:cNvPr>
          <p:cNvSpPr txBox="1"/>
          <p:nvPr/>
        </p:nvSpPr>
        <p:spPr>
          <a:xfrm>
            <a:off x="8293514" y="3331563"/>
            <a:ext cx="201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 N</a:t>
            </a:r>
          </a:p>
        </p:txBody>
      </p:sp>
      <p:pic>
        <p:nvPicPr>
          <p:cNvPr id="12" name="Picture 11" descr="A silhouette of a person in a suit&#10;&#10;AI-generated content may be incorrect.">
            <a:extLst>
              <a:ext uri="{FF2B5EF4-FFF2-40B4-BE49-F238E27FC236}">
                <a16:creationId xmlns:a16="http://schemas.microsoft.com/office/drawing/2014/main" id="{94F17031-1A4B-1A6E-D7C2-A9749BAE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92" y="3085941"/>
            <a:ext cx="1154911" cy="11549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2C4144-CCF0-0B55-9C0B-1A372002D730}"/>
              </a:ext>
            </a:extLst>
          </p:cNvPr>
          <p:cNvSpPr txBox="1"/>
          <p:nvPr/>
        </p:nvSpPr>
        <p:spPr>
          <a:xfrm>
            <a:off x="4914935" y="5110487"/>
            <a:ext cx="1976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Sruthy Premanand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B22698-B590-A339-E9D0-21295FE7F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141" y="4729816"/>
            <a:ext cx="1154911" cy="115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E5FF57-42CF-3969-E63C-23FF4EB2A067}"/>
              </a:ext>
            </a:extLst>
          </p:cNvPr>
          <p:cNvSpPr txBox="1"/>
          <p:nvPr/>
        </p:nvSpPr>
        <p:spPr>
          <a:xfrm>
            <a:off x="1478070" y="5207865"/>
            <a:ext cx="1917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05C47D-3834-ECB2-4C7E-BD07105B8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7024" y="4729816"/>
            <a:ext cx="1154911" cy="11549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B08BF9-F6AF-4FDE-63B5-73B854D955D8}"/>
              </a:ext>
            </a:extLst>
          </p:cNvPr>
          <p:cNvSpPr txBox="1"/>
          <p:nvPr/>
        </p:nvSpPr>
        <p:spPr>
          <a:xfrm>
            <a:off x="1019322" y="3499834"/>
            <a:ext cx="190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Tarun Pandey</a:t>
            </a:r>
          </a:p>
        </p:txBody>
      </p:sp>
      <p:pic>
        <p:nvPicPr>
          <p:cNvPr id="18" name="Picture 17" descr="A silhouette of a person in a suit&#10;&#10;AI-generated content may be incorrect.">
            <a:extLst>
              <a:ext uri="{FF2B5EF4-FFF2-40B4-BE49-F238E27FC236}">
                <a16:creationId xmlns:a16="http://schemas.microsoft.com/office/drawing/2014/main" id="{8F351B06-1429-D072-BA64-4EB7BD9DE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94" y="4729816"/>
            <a:ext cx="1154911" cy="11549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04ED7E-661C-762B-5960-CB2A2297E71F}"/>
              </a:ext>
            </a:extLst>
          </p:cNvPr>
          <p:cNvSpPr txBox="1"/>
          <p:nvPr/>
        </p:nvSpPr>
        <p:spPr>
          <a:xfrm>
            <a:off x="10490102" y="1971675"/>
            <a:ext cx="1701898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</p:spTree>
    <p:extLst>
      <p:ext uri="{BB962C8B-B14F-4D97-AF65-F5344CB8AC3E}">
        <p14:creationId xmlns:p14="http://schemas.microsoft.com/office/powerpoint/2010/main" val="4107760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224419-F712-CDFB-CE80-04D8479454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3224" r="6824"/>
          <a:stretch>
            <a:fillRect/>
          </a:stretch>
        </p:blipFill>
        <p:spPr>
          <a:xfrm>
            <a:off x="0" y="0"/>
            <a:ext cx="500232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735CE6-68D3-DD26-96AE-BAE1E34F0E86}"/>
              </a:ext>
            </a:extLst>
          </p:cNvPr>
          <p:cNvSpPr txBox="1"/>
          <p:nvPr/>
        </p:nvSpPr>
        <p:spPr>
          <a:xfrm>
            <a:off x="3510117" y="0"/>
            <a:ext cx="2939844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latin typeface="Algerian" panose="04020705040A02060702" pitchFamily="82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4283E-146C-1BA9-F4E3-4CDBFF1DD6DF}"/>
              </a:ext>
            </a:extLst>
          </p:cNvPr>
          <p:cNvSpPr/>
          <p:nvPr/>
        </p:nvSpPr>
        <p:spPr>
          <a:xfrm>
            <a:off x="0" y="0"/>
            <a:ext cx="255639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EF3CD2-7EF5-F63E-4D75-5CC85065D458}"/>
              </a:ext>
            </a:extLst>
          </p:cNvPr>
          <p:cNvSpPr/>
          <p:nvPr/>
        </p:nvSpPr>
        <p:spPr>
          <a:xfrm>
            <a:off x="5024284" y="1288026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KPI’s EXPLANATION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E020DC-BB73-8CC9-424C-052EEDD759DE}"/>
              </a:ext>
            </a:extLst>
          </p:cNvPr>
          <p:cNvSpPr/>
          <p:nvPr/>
        </p:nvSpPr>
        <p:spPr>
          <a:xfrm>
            <a:off x="4581833" y="1288026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7D5FF1-683B-342E-72F7-959FB681451E}"/>
              </a:ext>
            </a:extLst>
          </p:cNvPr>
          <p:cNvSpPr/>
          <p:nvPr/>
        </p:nvSpPr>
        <p:spPr>
          <a:xfrm>
            <a:off x="5024284" y="1994487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EXCEL DASHBOARD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2838F2-D182-68AD-A252-56E53E2B377F}"/>
              </a:ext>
            </a:extLst>
          </p:cNvPr>
          <p:cNvSpPr/>
          <p:nvPr/>
        </p:nvSpPr>
        <p:spPr>
          <a:xfrm>
            <a:off x="4581833" y="1994487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7FF51-F07B-5593-32C2-96165CC395D0}"/>
              </a:ext>
            </a:extLst>
          </p:cNvPr>
          <p:cNvSpPr/>
          <p:nvPr/>
        </p:nvSpPr>
        <p:spPr>
          <a:xfrm>
            <a:off x="5024284" y="2700948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POWER BI DASHBOARD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74D6D6-DC61-5EFE-A6A6-6703E32243A4}"/>
              </a:ext>
            </a:extLst>
          </p:cNvPr>
          <p:cNvSpPr/>
          <p:nvPr/>
        </p:nvSpPr>
        <p:spPr>
          <a:xfrm>
            <a:off x="4581833" y="2700948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FB05CC-18F6-866B-C969-21765420B3E7}"/>
              </a:ext>
            </a:extLst>
          </p:cNvPr>
          <p:cNvSpPr/>
          <p:nvPr/>
        </p:nvSpPr>
        <p:spPr>
          <a:xfrm>
            <a:off x="5024284" y="3407409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TABLEAU DASHBOARD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32C397B-984A-107F-D7D7-7F08FB26DE4E}"/>
              </a:ext>
            </a:extLst>
          </p:cNvPr>
          <p:cNvSpPr/>
          <p:nvPr/>
        </p:nvSpPr>
        <p:spPr>
          <a:xfrm>
            <a:off x="4581833" y="3407409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E6592E-7D01-DC47-E29E-9625EE8F76A7}"/>
              </a:ext>
            </a:extLst>
          </p:cNvPr>
          <p:cNvSpPr/>
          <p:nvPr/>
        </p:nvSpPr>
        <p:spPr>
          <a:xfrm>
            <a:off x="5024284" y="4113870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SQL QUERIES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1106B2-3C4F-19B5-BD6C-FD59D1527208}"/>
              </a:ext>
            </a:extLst>
          </p:cNvPr>
          <p:cNvSpPr/>
          <p:nvPr/>
        </p:nvSpPr>
        <p:spPr>
          <a:xfrm>
            <a:off x="4581833" y="4113870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02894AF-71F4-F8CD-E2AA-20B545ACE58F}"/>
              </a:ext>
            </a:extLst>
          </p:cNvPr>
          <p:cNvSpPr/>
          <p:nvPr/>
        </p:nvSpPr>
        <p:spPr>
          <a:xfrm>
            <a:off x="5024284" y="4820331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INSIGHTS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03981C6-0E84-930E-ECD2-B46CCA7E84E4}"/>
              </a:ext>
            </a:extLst>
          </p:cNvPr>
          <p:cNvSpPr/>
          <p:nvPr/>
        </p:nvSpPr>
        <p:spPr>
          <a:xfrm>
            <a:off x="4581833" y="4820331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CDCD8C-D3CE-5AC6-4E3B-1C366C722D74}"/>
              </a:ext>
            </a:extLst>
          </p:cNvPr>
          <p:cNvSpPr/>
          <p:nvPr/>
        </p:nvSpPr>
        <p:spPr>
          <a:xfrm>
            <a:off x="5024284" y="5526792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RECOMMENDATIONS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C2CBDD-80AB-06FA-1DA5-1EC98EC67EC6}"/>
              </a:ext>
            </a:extLst>
          </p:cNvPr>
          <p:cNvSpPr/>
          <p:nvPr/>
        </p:nvSpPr>
        <p:spPr>
          <a:xfrm>
            <a:off x="4581833" y="5526792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90A9B43-A5A7-F931-7E91-DD13A1C00C55}"/>
              </a:ext>
            </a:extLst>
          </p:cNvPr>
          <p:cNvSpPr/>
          <p:nvPr/>
        </p:nvSpPr>
        <p:spPr>
          <a:xfrm>
            <a:off x="5024284" y="6233256"/>
            <a:ext cx="6794091" cy="5506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CHALLENGES AND OVERCOME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EDA345-C48B-C811-C479-4EB22D98407B}"/>
              </a:ext>
            </a:extLst>
          </p:cNvPr>
          <p:cNvSpPr/>
          <p:nvPr/>
        </p:nvSpPr>
        <p:spPr>
          <a:xfrm>
            <a:off x="4581833" y="6233256"/>
            <a:ext cx="580103" cy="5506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110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0E96C2-5061-9FC7-FCDE-30F1DA8A7A11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FB010F-029C-B7A2-1141-002765E8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46" y="23121"/>
            <a:ext cx="10796779" cy="1667567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Factor 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C68C9-4350-AE84-7326-28281AEB7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71" y="2607367"/>
            <a:ext cx="4319779" cy="21572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B5CE93-8554-2F71-E34D-77A7DB1EED96}"/>
              </a:ext>
            </a:extLst>
          </p:cNvPr>
          <p:cNvSpPr txBox="1"/>
          <p:nvPr/>
        </p:nvSpPr>
        <p:spPr>
          <a:xfrm>
            <a:off x="6096000" y="2214563"/>
            <a:ext cx="50006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represents how efficiently airline seating capacity is utilized.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percentage of available seats that are actually filled by passengers.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for the airlines is 76.80%.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benchmark typically ranges between 70%–85%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healthy seat utilization</a:t>
            </a:r>
          </a:p>
        </p:txBody>
      </p:sp>
    </p:spTree>
    <p:extLst>
      <p:ext uri="{BB962C8B-B14F-4D97-AF65-F5344CB8AC3E}">
        <p14:creationId xmlns:p14="http://schemas.microsoft.com/office/powerpoint/2010/main" val="350310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F666D-7681-9264-BE2D-3A70C8EC5BEE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11EC8-03B7-494A-FEEC-C4FDB1AB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Flights Operated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DF92-CD00-1834-7230-C44FD1A3B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3260"/>
            <a:ext cx="4430587" cy="2311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4F9E6A-0EC9-E430-29E7-6C5A14C550F7}"/>
              </a:ext>
            </a:extLst>
          </p:cNvPr>
          <p:cNvSpPr txBox="1"/>
          <p:nvPr/>
        </p:nvSpPr>
        <p:spPr>
          <a:xfrm>
            <a:off x="6096000" y="2249488"/>
            <a:ext cx="54152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assess airline network size and activity.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 fuel planning and crew scheduling.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has almost 2.80 million flights.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wide route network.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211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E8C59-B286-D1D1-C01B-F9E66263BBFB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17A167-C7CC-6516-6C98-5097B36E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Passengers Carried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47C705-AFB1-F683-A90F-BDE926F06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13" y="2247424"/>
            <a:ext cx="4638868" cy="23631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53A3CB-3E5E-3FDF-2108-27315DC12234}"/>
              </a:ext>
            </a:extLst>
          </p:cNvPr>
          <p:cNvSpPr txBox="1"/>
          <p:nvPr/>
        </p:nvSpPr>
        <p:spPr>
          <a:xfrm>
            <a:off x="5557520" y="2247424"/>
            <a:ext cx="6096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customer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assess market reach and airline popularity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linked with revenue generation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has carried almost 187.02 million passengers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strong customer base and consistent demand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59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08C5FF-2207-EEB9-3D61-ABE4AA1181C3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948244-F614-76F8-4DBC-674CE744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Distance per Flight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6C2FB-4EB7-E045-6217-8E378D2DE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83" y="2340991"/>
            <a:ext cx="4957957" cy="25561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22F20-A20C-4EB2-5431-6AF55F4BEBF1}"/>
              </a:ext>
            </a:extLst>
          </p:cNvPr>
          <p:cNvSpPr txBox="1"/>
          <p:nvPr/>
        </p:nvSpPr>
        <p:spPr>
          <a:xfrm>
            <a:off x="5765165" y="2340991"/>
            <a:ext cx="56553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Distinguishes short-haul vs long-haul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Influences fuel consumption, aircraft type, and crew requirements</a:t>
            </a:r>
          </a:p>
          <a:p>
            <a:endParaRPr lang="en-US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distance per flight for the airlines is 742.8 miles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dominance of short to medium-haul routes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54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EF86CD-0A52-42EB-2F57-B2D2EF258188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1E6440-F4E7-FA34-FF2A-D44DD73A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690689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Air 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FD0E4-C794-4183-A581-06947BA26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3077"/>
            <a:ext cx="4404360" cy="21614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E1CA33-D446-0471-9076-05BA180580C7}"/>
              </a:ext>
            </a:extLst>
          </p:cNvPr>
          <p:cNvSpPr txBox="1"/>
          <p:nvPr/>
        </p:nvSpPr>
        <p:spPr>
          <a:xfrm>
            <a:off x="5821680" y="2479040"/>
            <a:ext cx="605396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evaluate delays, route efficiency, and congestion impact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air time for the airlines is 2,523 minutes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route efficiency and operational consistency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981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3596F1-8561-711E-FC54-26D3A577BA3F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14E62-4AA6-D82F-A588-ED100CF1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09760" cy="1690688"/>
          </a:xfrm>
        </p:spPr>
        <p:txBody>
          <a:bodyPr>
            <a:no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Factor % on a Yearly, Quarterly &amp; Monthly basis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A7B618-7BE9-85A4-3E80-57AF75D09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" t="8727" r="59669"/>
          <a:stretch>
            <a:fillRect/>
          </a:stretch>
        </p:blipFill>
        <p:spPr>
          <a:xfrm>
            <a:off x="162560" y="1813056"/>
            <a:ext cx="4180840" cy="48777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920547-CC5E-7A70-A7B2-B782B097F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80" t="8727" b="50000"/>
          <a:stretch>
            <a:fillRect/>
          </a:stretch>
        </p:blipFill>
        <p:spPr>
          <a:xfrm>
            <a:off x="4605268" y="4915535"/>
            <a:ext cx="5472182" cy="16140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2B0CFB-37F0-8488-E488-B1A8B5E69D31}"/>
              </a:ext>
            </a:extLst>
          </p:cNvPr>
          <p:cNvSpPr txBox="1"/>
          <p:nvPr/>
        </p:nvSpPr>
        <p:spPr>
          <a:xfrm>
            <a:off x="4486275" y="1960880"/>
            <a:ext cx="754316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and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seat utilization across months, quarters and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seasonality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peak and off-peak travel periods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load factor during mid-year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utilization in early and late months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shows highest utilization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summer and holiday travel demand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Upward trend from 2007 to 2014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better capacity and demand management over year</a:t>
            </a:r>
          </a:p>
        </p:txBody>
      </p:sp>
    </p:spTree>
    <p:extLst>
      <p:ext uri="{BB962C8B-B14F-4D97-AF65-F5344CB8AC3E}">
        <p14:creationId xmlns:p14="http://schemas.microsoft.com/office/powerpoint/2010/main" val="906330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90EA5-C470-15FF-E207-26DCED10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1A2EB0-81B4-38EE-C6E4-0BF5140A1956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DC0AB-5625-34DA-A63F-AB896878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09760" cy="1381125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Factor % based on Carrier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D8564-263E-92CE-3202-24635C37C81C}"/>
              </a:ext>
            </a:extLst>
          </p:cNvPr>
          <p:cNvSpPr txBox="1"/>
          <p:nvPr/>
        </p:nvSpPr>
        <p:spPr>
          <a:xfrm>
            <a:off x="657225" y="2142937"/>
            <a:ext cx="4724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utilization efficiency across airlines.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competitive benchmarking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best-performing and underperforming carriers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Globespan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Airways leads with ~95%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strong route efficiency and demand alignment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D66C9C-07CC-7F23-17AC-E01FD409D2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"/>
          <a:stretch>
            <a:fillRect/>
          </a:stretch>
        </p:blipFill>
        <p:spPr>
          <a:xfrm>
            <a:off x="5295900" y="2605168"/>
            <a:ext cx="6716062" cy="2452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4387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AD301-2BA5-782B-6BB9-D04E282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DDEB7D-46EB-F8F4-37FD-4256435E1945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751C0-4220-C70E-9BA0-0209CA4D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09760" cy="1690688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Carrier Names based on Passenger’s Preference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10CA0-F17A-9EBE-5D1C-08A5896D1BFC}"/>
              </a:ext>
            </a:extLst>
          </p:cNvPr>
          <p:cNvSpPr txBox="1"/>
          <p:nvPr/>
        </p:nvSpPr>
        <p:spPr>
          <a:xfrm>
            <a:off x="7629525" y="2296160"/>
            <a:ext cx="39147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and 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airlines by passenger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Airlines and Southwest Airlines lead in passenger preference.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competitive benchmarking.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passengers preference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11948-B420-B26D-A2FE-94A2DA19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2085547"/>
            <a:ext cx="7058025" cy="341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19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B72A7-604B-3A05-E712-857D7650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52A216-FCEF-610E-4516-609DEC5FD06F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904E2-4C4F-2AB2-BC5B-74981A07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09760" cy="1683978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Routes (from-to city) based on No. of Flights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D2E5E-9D6E-BA6B-1703-F47048F5F793}"/>
              </a:ext>
            </a:extLst>
          </p:cNvPr>
          <p:cNvSpPr txBox="1"/>
          <p:nvPr/>
        </p:nvSpPr>
        <p:spPr>
          <a:xfrm>
            <a:off x="6390641" y="2652395"/>
            <a:ext cx="480123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and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busiest routes by flight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Atlanta – New York (5456) and Boston – New York(5372) are the busiest routes by flight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airlines prioritize capacity and optimize high-demand routes.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A9A47-FCF1-A7CF-FEEB-2DB4FC9C7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3" y="2288167"/>
            <a:ext cx="5907427" cy="312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5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104CA-AD97-1D12-A228-DDA2CB4F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E3BD3D-325E-6915-C908-29112C5E08C0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CEC4F-7DB9-56D8-EF3A-DCFD2E61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09760" cy="134894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Factor on Weekend vs Weekday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193AF-5F05-1B8D-1520-CA390770E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66" y="2174846"/>
            <a:ext cx="5439534" cy="33342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946E3B-7F89-7844-28E3-FBC1F775C4B4}"/>
              </a:ext>
            </a:extLst>
          </p:cNvPr>
          <p:cNvSpPr txBox="1"/>
          <p:nvPr/>
        </p:nvSpPr>
        <p:spPr>
          <a:xfrm>
            <a:off x="6602730" y="2244491"/>
            <a:ext cx="437007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and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passenger utilization based on travel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business vs leisure travel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scheduling and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equal distribution between weekday and weekend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balanced travel demand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1"/>
            </a:gs>
            <a:gs pos="10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ECB2A-9482-3F1C-4540-AEDC86BE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1894AEB-380B-A131-7DC6-BAB54425885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B9114-5129-B7EB-235B-B2BC5A4C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7148"/>
            <a:ext cx="10909760" cy="1120878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of Flights based on Distance Group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848944-52F1-22C8-CBF0-AEDC30A18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2514600"/>
            <a:ext cx="6434598" cy="29193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39B739-C4EA-F59F-D942-9A8416CD7DF5}"/>
              </a:ext>
            </a:extLst>
          </p:cNvPr>
          <p:cNvSpPr txBox="1"/>
          <p:nvPr/>
        </p:nvSpPr>
        <p:spPr>
          <a:xfrm>
            <a:off x="7823200" y="2655786"/>
            <a:ext cx="392634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and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flight distribution by distance.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flights fall under short-haul categories (&lt;1000 miles).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count sharply decreases as distance increases.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721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A48F-D1D9-2EC2-99EF-A6CB7548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6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14561-4710-057C-4037-A0FBAAB8D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321"/>
            <a:ext cx="12192000" cy="55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74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86488-A811-93D1-CBE8-FDFADC3D2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5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0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876CA4-B198-B901-90C2-EC6AFF19C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" y="704564"/>
            <a:ext cx="10992465" cy="61534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4C55857-163D-BC36-3D8D-970EC17D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465" y="-19531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375421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9D9C2F-F179-934F-CC8B-04A869290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615" y="2428"/>
            <a:ext cx="12248241" cy="685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31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5A71-B53F-38BE-47E3-23DDB0C8F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90"/>
            <a:ext cx="10515600" cy="60826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TABLEAU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3AA55-A280-0C96-73E7-6A1132FD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" b="-1397"/>
          <a:stretch>
            <a:fillRect/>
          </a:stretch>
        </p:blipFill>
        <p:spPr>
          <a:xfrm>
            <a:off x="0" y="688259"/>
            <a:ext cx="12192000" cy="63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70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C6317F-F931-23C0-8FBF-6A489EFB8BF3}"/>
              </a:ext>
            </a:extLst>
          </p:cNvPr>
          <p:cNvSpPr txBox="1"/>
          <p:nvPr/>
        </p:nvSpPr>
        <p:spPr>
          <a:xfrm>
            <a:off x="588691" y="0"/>
            <a:ext cx="10565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D271E-D164-2BAC-A5B6-365E34AA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92" y="618470"/>
            <a:ext cx="9155384" cy="3241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0F9573-0932-DD69-4755-8A4893C35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92" y="3840475"/>
            <a:ext cx="8536259" cy="30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8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9E0ABA-2169-35D9-DA8F-12ABDB573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6720"/>
            <a:ext cx="7259063" cy="2621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9AF893-8D8E-5B77-D434-75ACBCC99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26277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74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D47905B-34EF-3730-4227-9AA88761B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421275" cy="36271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4E6394-8D6C-858B-BF44-27291E8BE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7122"/>
            <a:ext cx="7449590" cy="32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60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2F7CF6C-D3D2-0685-9D87-8ABC25748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3" y="816564"/>
            <a:ext cx="9402487" cy="489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6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10AA02C-34F3-A6AC-2BFA-0EBF6FC21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53" y="914400"/>
            <a:ext cx="6811326" cy="481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01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AC552F-83DB-6FDA-2A46-3F3E46C62005}"/>
              </a:ext>
            </a:extLst>
          </p:cNvPr>
          <p:cNvSpPr txBox="1"/>
          <p:nvPr/>
        </p:nvSpPr>
        <p:spPr>
          <a:xfrm>
            <a:off x="4848226" y="238125"/>
            <a:ext cx="6619874" cy="62396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is strong and stable with an average Load Factor of 76.8%, indicating efficient seat utilization across the network.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demand shows clear seasonality: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peaks mid-year (around Q3 and months 6–7, ~81–82%), suggesting strong summer demand.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utilization appears in early months and Q4, highlighting off-peak periods.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High-volume routes dominate operations, especially major city pairs like Washington DC–New York, Boston–New York, and Atlanta–New York, confirming a hub-centric network strategy.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and medium-haul flights contribute most to total flight counts, while long-haul routes are fewer but likely higher in revenue impact.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Carrier-wise insights show imbalance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carriers achieve very high load factors, indicating strong pricing, demand alignment, or route optimization.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lag behind despite high passenger volumes, signaling potential inefficiencies.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load factor remains similar, implying consistent demand throughout the week rather than leisure-only spikes.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ED4B-A6B3-5D40-93A8-766E9315E98E}"/>
              </a:ext>
            </a:extLst>
          </p:cNvPr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B7FFE-68ED-ED71-C383-0E54CCF6DC78}"/>
              </a:ext>
            </a:extLst>
          </p:cNvPr>
          <p:cNvSpPr txBox="1"/>
          <p:nvPr/>
        </p:nvSpPr>
        <p:spPr>
          <a:xfrm>
            <a:off x="208934" y="238125"/>
            <a:ext cx="4410691" cy="1569660"/>
          </a:xfrm>
          <a:prstGeom prst="rect">
            <a:avLst/>
          </a:prstGeom>
          <a:solidFill>
            <a:srgbClr val="FFE64C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A94156-67A2-39AB-A0A5-5B172186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34" y="2267145"/>
            <a:ext cx="441069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33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8DBEAB2-511E-B4DC-3F09-569D724B4245}"/>
              </a:ext>
            </a:extLst>
          </p:cNvPr>
          <p:cNvGrpSpPr/>
          <p:nvPr/>
        </p:nvGrpSpPr>
        <p:grpSpPr>
          <a:xfrm>
            <a:off x="4630338" y="1810446"/>
            <a:ext cx="3162382" cy="3046034"/>
            <a:chOff x="4041058" y="1465006"/>
            <a:chExt cx="2145892" cy="2215143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C9B98035-A80F-CA1D-7017-D9C46A373FB4}"/>
                </a:ext>
              </a:extLst>
            </p:cNvPr>
            <p:cNvSpPr/>
            <p:nvPr/>
          </p:nvSpPr>
          <p:spPr>
            <a:xfrm>
              <a:off x="4041058" y="1465006"/>
              <a:ext cx="2054942" cy="1963994"/>
            </a:xfrm>
            <a:prstGeom prst="blockArc">
              <a:avLst>
                <a:gd name="adj1" fmla="val 10800000"/>
                <a:gd name="adj2" fmla="val 15143760"/>
                <a:gd name="adj3" fmla="val 582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BA5C930F-E672-0616-C67B-A66886FAFAD6}"/>
                </a:ext>
              </a:extLst>
            </p:cNvPr>
            <p:cNvSpPr/>
            <p:nvPr/>
          </p:nvSpPr>
          <p:spPr>
            <a:xfrm rot="16200000">
              <a:off x="3995584" y="1617406"/>
              <a:ext cx="2054942" cy="1963994"/>
            </a:xfrm>
            <a:prstGeom prst="blockArc">
              <a:avLst>
                <a:gd name="adj1" fmla="val 10800000"/>
                <a:gd name="adj2" fmla="val 15143760"/>
                <a:gd name="adj3" fmla="val 5822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1A29E91D-1CBF-0D29-5234-65DC417C4F22}"/>
                </a:ext>
              </a:extLst>
            </p:cNvPr>
            <p:cNvSpPr/>
            <p:nvPr/>
          </p:nvSpPr>
          <p:spPr>
            <a:xfrm rot="5400000">
              <a:off x="4177482" y="1510480"/>
              <a:ext cx="2054942" cy="1963994"/>
            </a:xfrm>
            <a:prstGeom prst="blockArc">
              <a:avLst>
                <a:gd name="adj1" fmla="val 10800000"/>
                <a:gd name="adj2" fmla="val 15143760"/>
                <a:gd name="adj3" fmla="val 5822"/>
              </a:avLst>
            </a:prstGeom>
            <a:solidFill>
              <a:srgbClr val="FFE6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74C1BE2E-15D2-9757-AF03-CA495D377A17}"/>
                </a:ext>
              </a:extLst>
            </p:cNvPr>
            <p:cNvSpPr/>
            <p:nvPr/>
          </p:nvSpPr>
          <p:spPr>
            <a:xfrm rot="10800000">
              <a:off x="4132007" y="1716155"/>
              <a:ext cx="2054942" cy="1963994"/>
            </a:xfrm>
            <a:prstGeom prst="blockArc">
              <a:avLst>
                <a:gd name="adj1" fmla="val 10800000"/>
                <a:gd name="adj2" fmla="val 15143760"/>
                <a:gd name="adj3" fmla="val 5822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E9B5712-8189-B1B0-D0D2-C19B3D23B27E}"/>
                </a:ext>
              </a:extLst>
            </p:cNvPr>
            <p:cNvSpPr/>
            <p:nvPr/>
          </p:nvSpPr>
          <p:spPr>
            <a:xfrm>
              <a:off x="4288708" y="1728232"/>
              <a:ext cx="1593932" cy="16550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Flowchart: Delay 11">
            <a:extLst>
              <a:ext uri="{FF2B5EF4-FFF2-40B4-BE49-F238E27FC236}">
                <a16:creationId xmlns:a16="http://schemas.microsoft.com/office/drawing/2014/main" id="{31D5620D-F811-7D0A-1ED2-2FCE4BC87A6E}"/>
              </a:ext>
            </a:extLst>
          </p:cNvPr>
          <p:cNvSpPr/>
          <p:nvPr/>
        </p:nvSpPr>
        <p:spPr>
          <a:xfrm flipH="1">
            <a:off x="700938" y="794373"/>
            <a:ext cx="3291942" cy="1997734"/>
          </a:xfrm>
          <a:custGeom>
            <a:avLst/>
            <a:gdLst>
              <a:gd name="csX0" fmla="*/ 0 w 3291840"/>
              <a:gd name="csY0" fmla="*/ 0 h 1981200"/>
              <a:gd name="csX1" fmla="*/ 1645920 w 3291840"/>
              <a:gd name="csY1" fmla="*/ 0 h 1981200"/>
              <a:gd name="csX2" fmla="*/ 3291840 w 3291840"/>
              <a:gd name="csY2" fmla="*/ 990600 h 1981200"/>
              <a:gd name="csX3" fmla="*/ 1645920 w 3291840"/>
              <a:gd name="csY3" fmla="*/ 1981200 h 1981200"/>
              <a:gd name="csX4" fmla="*/ 0 w 3291840"/>
              <a:gd name="csY4" fmla="*/ 1981200 h 1981200"/>
              <a:gd name="csX5" fmla="*/ 0 w 3291840"/>
              <a:gd name="csY5" fmla="*/ 0 h 1981200"/>
              <a:gd name="csX0" fmla="*/ 0 w 3291942"/>
              <a:gd name="csY0" fmla="*/ 8267 h 1997734"/>
              <a:gd name="csX1" fmla="*/ 1645920 w 3291942"/>
              <a:gd name="csY1" fmla="*/ 8267 h 1997734"/>
              <a:gd name="csX2" fmla="*/ 3291840 w 3291942"/>
              <a:gd name="csY2" fmla="*/ 998867 h 1997734"/>
              <a:gd name="csX3" fmla="*/ 1645920 w 3291942"/>
              <a:gd name="csY3" fmla="*/ 1989467 h 1997734"/>
              <a:gd name="csX4" fmla="*/ 0 w 3291942"/>
              <a:gd name="csY4" fmla="*/ 1989467 h 1997734"/>
              <a:gd name="csX5" fmla="*/ 0 w 3291942"/>
              <a:gd name="csY5" fmla="*/ 8267 h 1997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1942" h="1997734">
                <a:moveTo>
                  <a:pt x="0" y="8267"/>
                </a:moveTo>
                <a:lnTo>
                  <a:pt x="1645920" y="8267"/>
                </a:lnTo>
                <a:cubicBezTo>
                  <a:pt x="2554937" y="8267"/>
                  <a:pt x="3281680" y="-157826"/>
                  <a:pt x="3291840" y="998867"/>
                </a:cubicBezTo>
                <a:cubicBezTo>
                  <a:pt x="3302000" y="2155560"/>
                  <a:pt x="2554937" y="1989467"/>
                  <a:pt x="1645920" y="1989467"/>
                </a:cubicBezTo>
                <a:lnTo>
                  <a:pt x="0" y="1989467"/>
                </a:lnTo>
                <a:lnTo>
                  <a:pt x="0" y="8267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dynamic pricing, targeted promotions, or bundled offers during low-load months (early year &amp; Q4).</a:t>
            </a:r>
          </a:p>
          <a:p>
            <a:pPr algn="ctr"/>
            <a:endParaRPr lang="en-IN" b="1" dirty="0"/>
          </a:p>
        </p:txBody>
      </p:sp>
      <p:sp>
        <p:nvSpPr>
          <p:cNvPr id="13" name="Flowchart: Delay 11">
            <a:extLst>
              <a:ext uri="{FF2B5EF4-FFF2-40B4-BE49-F238E27FC236}">
                <a16:creationId xmlns:a16="http://schemas.microsoft.com/office/drawing/2014/main" id="{3246FB5B-C1AE-5AD8-A8D1-B2533B0AAE26}"/>
              </a:ext>
            </a:extLst>
          </p:cNvPr>
          <p:cNvSpPr/>
          <p:nvPr/>
        </p:nvSpPr>
        <p:spPr>
          <a:xfrm flipH="1">
            <a:off x="700938" y="4065893"/>
            <a:ext cx="3291942" cy="1997734"/>
          </a:xfrm>
          <a:custGeom>
            <a:avLst/>
            <a:gdLst>
              <a:gd name="csX0" fmla="*/ 0 w 3291840"/>
              <a:gd name="csY0" fmla="*/ 0 h 1981200"/>
              <a:gd name="csX1" fmla="*/ 1645920 w 3291840"/>
              <a:gd name="csY1" fmla="*/ 0 h 1981200"/>
              <a:gd name="csX2" fmla="*/ 3291840 w 3291840"/>
              <a:gd name="csY2" fmla="*/ 990600 h 1981200"/>
              <a:gd name="csX3" fmla="*/ 1645920 w 3291840"/>
              <a:gd name="csY3" fmla="*/ 1981200 h 1981200"/>
              <a:gd name="csX4" fmla="*/ 0 w 3291840"/>
              <a:gd name="csY4" fmla="*/ 1981200 h 1981200"/>
              <a:gd name="csX5" fmla="*/ 0 w 3291840"/>
              <a:gd name="csY5" fmla="*/ 0 h 1981200"/>
              <a:gd name="csX0" fmla="*/ 0 w 3291942"/>
              <a:gd name="csY0" fmla="*/ 8267 h 1997734"/>
              <a:gd name="csX1" fmla="*/ 1645920 w 3291942"/>
              <a:gd name="csY1" fmla="*/ 8267 h 1997734"/>
              <a:gd name="csX2" fmla="*/ 3291840 w 3291942"/>
              <a:gd name="csY2" fmla="*/ 998867 h 1997734"/>
              <a:gd name="csX3" fmla="*/ 1645920 w 3291942"/>
              <a:gd name="csY3" fmla="*/ 1989467 h 1997734"/>
              <a:gd name="csX4" fmla="*/ 0 w 3291942"/>
              <a:gd name="csY4" fmla="*/ 1989467 h 1997734"/>
              <a:gd name="csX5" fmla="*/ 0 w 3291942"/>
              <a:gd name="csY5" fmla="*/ 8267 h 1997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1942" h="1997734">
                <a:moveTo>
                  <a:pt x="0" y="8267"/>
                </a:moveTo>
                <a:lnTo>
                  <a:pt x="1645920" y="8267"/>
                </a:lnTo>
                <a:cubicBezTo>
                  <a:pt x="2554937" y="8267"/>
                  <a:pt x="3281680" y="-157826"/>
                  <a:pt x="3291840" y="998867"/>
                </a:cubicBezTo>
                <a:cubicBezTo>
                  <a:pt x="3302000" y="2155560"/>
                  <a:pt x="2554937" y="1989467"/>
                  <a:pt x="1645920" y="1989467"/>
                </a:cubicBezTo>
                <a:lnTo>
                  <a:pt x="0" y="1989467"/>
                </a:lnTo>
                <a:lnTo>
                  <a:pt x="0" y="826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Re-evaluate partnerships or route assignments for consistently underperforming carriers.</a:t>
            </a:r>
          </a:p>
          <a:p>
            <a:pPr algn="ctr"/>
            <a:endParaRPr lang="en-IN" dirty="0"/>
          </a:p>
        </p:txBody>
      </p:sp>
      <p:sp>
        <p:nvSpPr>
          <p:cNvPr id="16" name="Flowchart: Delay 11">
            <a:extLst>
              <a:ext uri="{FF2B5EF4-FFF2-40B4-BE49-F238E27FC236}">
                <a16:creationId xmlns:a16="http://schemas.microsoft.com/office/drawing/2014/main" id="{4D5DBA26-FB25-30F1-720E-5A47855D7526}"/>
              </a:ext>
            </a:extLst>
          </p:cNvPr>
          <p:cNvSpPr/>
          <p:nvPr/>
        </p:nvSpPr>
        <p:spPr>
          <a:xfrm>
            <a:off x="8430176" y="811579"/>
            <a:ext cx="3291942" cy="1997734"/>
          </a:xfrm>
          <a:custGeom>
            <a:avLst/>
            <a:gdLst>
              <a:gd name="csX0" fmla="*/ 0 w 3291840"/>
              <a:gd name="csY0" fmla="*/ 0 h 1981200"/>
              <a:gd name="csX1" fmla="*/ 1645920 w 3291840"/>
              <a:gd name="csY1" fmla="*/ 0 h 1981200"/>
              <a:gd name="csX2" fmla="*/ 3291840 w 3291840"/>
              <a:gd name="csY2" fmla="*/ 990600 h 1981200"/>
              <a:gd name="csX3" fmla="*/ 1645920 w 3291840"/>
              <a:gd name="csY3" fmla="*/ 1981200 h 1981200"/>
              <a:gd name="csX4" fmla="*/ 0 w 3291840"/>
              <a:gd name="csY4" fmla="*/ 1981200 h 1981200"/>
              <a:gd name="csX5" fmla="*/ 0 w 3291840"/>
              <a:gd name="csY5" fmla="*/ 0 h 1981200"/>
              <a:gd name="csX0" fmla="*/ 0 w 3291942"/>
              <a:gd name="csY0" fmla="*/ 8267 h 1997734"/>
              <a:gd name="csX1" fmla="*/ 1645920 w 3291942"/>
              <a:gd name="csY1" fmla="*/ 8267 h 1997734"/>
              <a:gd name="csX2" fmla="*/ 3291840 w 3291942"/>
              <a:gd name="csY2" fmla="*/ 998867 h 1997734"/>
              <a:gd name="csX3" fmla="*/ 1645920 w 3291942"/>
              <a:gd name="csY3" fmla="*/ 1989467 h 1997734"/>
              <a:gd name="csX4" fmla="*/ 0 w 3291942"/>
              <a:gd name="csY4" fmla="*/ 1989467 h 1997734"/>
              <a:gd name="csX5" fmla="*/ 0 w 3291942"/>
              <a:gd name="csY5" fmla="*/ 8267 h 1997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1942" h="1997734">
                <a:moveTo>
                  <a:pt x="0" y="8267"/>
                </a:moveTo>
                <a:lnTo>
                  <a:pt x="1645920" y="8267"/>
                </a:lnTo>
                <a:cubicBezTo>
                  <a:pt x="2554937" y="8267"/>
                  <a:pt x="3281680" y="-157826"/>
                  <a:pt x="3291840" y="998867"/>
                </a:cubicBezTo>
                <a:cubicBezTo>
                  <a:pt x="3302000" y="2155560"/>
                  <a:pt x="2554937" y="1989467"/>
                  <a:pt x="1645920" y="1989467"/>
                </a:cubicBezTo>
                <a:lnTo>
                  <a:pt x="0" y="1989467"/>
                </a:lnTo>
                <a:lnTo>
                  <a:pt x="0" y="8267"/>
                </a:lnTo>
                <a:close/>
              </a:path>
            </a:pathLst>
          </a:custGeom>
          <a:solidFill>
            <a:srgbClr val="C4A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 routes: focus on cost efficiency and high-frequency operations.</a:t>
            </a:r>
          </a:p>
          <a:p>
            <a:pPr algn="ctr"/>
            <a:endParaRPr lang="en-IN" b="1" dirty="0"/>
          </a:p>
        </p:txBody>
      </p:sp>
      <p:sp>
        <p:nvSpPr>
          <p:cNvPr id="18" name="Flowchart: Delay 11">
            <a:extLst>
              <a:ext uri="{FF2B5EF4-FFF2-40B4-BE49-F238E27FC236}">
                <a16:creationId xmlns:a16="http://schemas.microsoft.com/office/drawing/2014/main" id="{0F4D9F78-5F9F-8B4E-542E-B4A29EE69900}"/>
              </a:ext>
            </a:extLst>
          </p:cNvPr>
          <p:cNvSpPr/>
          <p:nvPr/>
        </p:nvSpPr>
        <p:spPr>
          <a:xfrm>
            <a:off x="8430176" y="4045876"/>
            <a:ext cx="3291942" cy="1997734"/>
          </a:xfrm>
          <a:custGeom>
            <a:avLst/>
            <a:gdLst>
              <a:gd name="csX0" fmla="*/ 0 w 3291840"/>
              <a:gd name="csY0" fmla="*/ 0 h 1981200"/>
              <a:gd name="csX1" fmla="*/ 1645920 w 3291840"/>
              <a:gd name="csY1" fmla="*/ 0 h 1981200"/>
              <a:gd name="csX2" fmla="*/ 3291840 w 3291840"/>
              <a:gd name="csY2" fmla="*/ 990600 h 1981200"/>
              <a:gd name="csX3" fmla="*/ 1645920 w 3291840"/>
              <a:gd name="csY3" fmla="*/ 1981200 h 1981200"/>
              <a:gd name="csX4" fmla="*/ 0 w 3291840"/>
              <a:gd name="csY4" fmla="*/ 1981200 h 1981200"/>
              <a:gd name="csX5" fmla="*/ 0 w 3291840"/>
              <a:gd name="csY5" fmla="*/ 0 h 1981200"/>
              <a:gd name="csX0" fmla="*/ 0 w 3291942"/>
              <a:gd name="csY0" fmla="*/ 8267 h 1997734"/>
              <a:gd name="csX1" fmla="*/ 1645920 w 3291942"/>
              <a:gd name="csY1" fmla="*/ 8267 h 1997734"/>
              <a:gd name="csX2" fmla="*/ 3291840 w 3291942"/>
              <a:gd name="csY2" fmla="*/ 998867 h 1997734"/>
              <a:gd name="csX3" fmla="*/ 1645920 w 3291942"/>
              <a:gd name="csY3" fmla="*/ 1989467 h 1997734"/>
              <a:gd name="csX4" fmla="*/ 0 w 3291942"/>
              <a:gd name="csY4" fmla="*/ 1989467 h 1997734"/>
              <a:gd name="csX5" fmla="*/ 0 w 3291942"/>
              <a:gd name="csY5" fmla="*/ 8267 h 1997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1942" h="1997734">
                <a:moveTo>
                  <a:pt x="0" y="8267"/>
                </a:moveTo>
                <a:lnTo>
                  <a:pt x="1645920" y="8267"/>
                </a:lnTo>
                <a:cubicBezTo>
                  <a:pt x="2554937" y="8267"/>
                  <a:pt x="3281680" y="-157826"/>
                  <a:pt x="3291840" y="998867"/>
                </a:cubicBezTo>
                <a:cubicBezTo>
                  <a:pt x="3302000" y="2155560"/>
                  <a:pt x="2554937" y="1989467"/>
                  <a:pt x="1645920" y="1989467"/>
                </a:cubicBezTo>
                <a:lnTo>
                  <a:pt x="0" y="1989467"/>
                </a:lnTo>
                <a:lnTo>
                  <a:pt x="0" y="8267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capacity or deploy larger aircraft on top-performing routes during peak seasons.</a:t>
            </a: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30246-EB5B-3F34-5384-992E14C50D31}"/>
              </a:ext>
            </a:extLst>
          </p:cNvPr>
          <p:cNvSpPr txBox="1"/>
          <p:nvPr/>
        </p:nvSpPr>
        <p:spPr>
          <a:xfrm>
            <a:off x="4995298" y="3160786"/>
            <a:ext cx="234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RECOMMEDATIONS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1E4320-E93B-E3C7-73DB-91A2481EBC1B}"/>
              </a:ext>
            </a:extLst>
          </p:cNvPr>
          <p:cNvSpPr txBox="1"/>
          <p:nvPr/>
        </p:nvSpPr>
        <p:spPr>
          <a:xfrm>
            <a:off x="4175760" y="1810446"/>
            <a:ext cx="588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2814A-3562-7D11-BF03-9C25A708A318}"/>
              </a:ext>
            </a:extLst>
          </p:cNvPr>
          <p:cNvSpPr txBox="1"/>
          <p:nvPr/>
        </p:nvSpPr>
        <p:spPr>
          <a:xfrm>
            <a:off x="4242777" y="4277842"/>
            <a:ext cx="588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6B89B1-8F2E-5BD5-2BA2-39B3E0DD2C11}"/>
              </a:ext>
            </a:extLst>
          </p:cNvPr>
          <p:cNvSpPr txBox="1"/>
          <p:nvPr/>
        </p:nvSpPr>
        <p:spPr>
          <a:xfrm>
            <a:off x="7588615" y="1814198"/>
            <a:ext cx="588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66388D-CC8C-81AF-9220-9014689B05B7}"/>
              </a:ext>
            </a:extLst>
          </p:cNvPr>
          <p:cNvSpPr txBox="1"/>
          <p:nvPr/>
        </p:nvSpPr>
        <p:spPr>
          <a:xfrm>
            <a:off x="7658688" y="4326460"/>
            <a:ext cx="588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7E43315-C70F-7D75-48D3-10EBD0AC61CB}"/>
              </a:ext>
            </a:extLst>
          </p:cNvPr>
          <p:cNvCxnSpPr>
            <a:cxnSpLocks/>
          </p:cNvCxnSpPr>
          <p:nvPr/>
        </p:nvCxnSpPr>
        <p:spPr>
          <a:xfrm>
            <a:off x="3992880" y="1361440"/>
            <a:ext cx="1168400" cy="794360"/>
          </a:xfrm>
          <a:prstGeom prst="bentConnector3">
            <a:avLst>
              <a:gd name="adj1" fmla="val 995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6CC1267-DAD9-629E-9BE3-BBFF9C0A5E72}"/>
              </a:ext>
            </a:extLst>
          </p:cNvPr>
          <p:cNvCxnSpPr>
            <a:cxnSpLocks/>
          </p:cNvCxnSpPr>
          <p:nvPr/>
        </p:nvCxnSpPr>
        <p:spPr>
          <a:xfrm flipV="1">
            <a:off x="3990408" y="4550301"/>
            <a:ext cx="1293616" cy="946259"/>
          </a:xfrm>
          <a:prstGeom prst="bentConnector3">
            <a:avLst>
              <a:gd name="adj1" fmla="val 10105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A4823CD-1867-55FC-D346-34159D79D3C2}"/>
              </a:ext>
            </a:extLst>
          </p:cNvPr>
          <p:cNvCxnSpPr>
            <a:cxnSpLocks/>
          </p:cNvCxnSpPr>
          <p:nvPr/>
        </p:nvCxnSpPr>
        <p:spPr>
          <a:xfrm flipV="1">
            <a:off x="7351707" y="1226246"/>
            <a:ext cx="1089905" cy="1018455"/>
          </a:xfrm>
          <a:prstGeom prst="bentConnector3">
            <a:avLst>
              <a:gd name="adj1" fmla="val -33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1B7EDB3A-B89F-09CA-9F6B-4AB75CC1D611}"/>
              </a:ext>
            </a:extLst>
          </p:cNvPr>
          <p:cNvCxnSpPr>
            <a:cxnSpLocks/>
          </p:cNvCxnSpPr>
          <p:nvPr/>
        </p:nvCxnSpPr>
        <p:spPr>
          <a:xfrm>
            <a:off x="7241710" y="4527733"/>
            <a:ext cx="1188464" cy="946259"/>
          </a:xfrm>
          <a:prstGeom prst="bentConnector3">
            <a:avLst>
              <a:gd name="adj1" fmla="val 12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483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773A-BDDF-F99E-6E84-EFD023CA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265D0A-34D2-0B37-CEC2-90BF78B38A95}"/>
              </a:ext>
            </a:extLst>
          </p:cNvPr>
          <p:cNvSpPr/>
          <p:nvPr/>
        </p:nvSpPr>
        <p:spPr>
          <a:xfrm>
            <a:off x="365760" y="4046458"/>
            <a:ext cx="5400000" cy="2520000"/>
          </a:xfrm>
          <a:prstGeom prst="roundRect">
            <a:avLst>
              <a:gd name="adj" fmla="val 802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1F4ED1-3053-C47E-7B1A-8988CEED1D8C}"/>
              </a:ext>
            </a:extLst>
          </p:cNvPr>
          <p:cNvSpPr/>
          <p:nvPr/>
        </p:nvSpPr>
        <p:spPr>
          <a:xfrm>
            <a:off x="6096000" y="1412240"/>
            <a:ext cx="5400000" cy="2520000"/>
          </a:xfrm>
          <a:prstGeom prst="roundRect">
            <a:avLst>
              <a:gd name="adj" fmla="val 802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A20067-6226-4DFE-8F68-7CBBE643ADF5}"/>
              </a:ext>
            </a:extLst>
          </p:cNvPr>
          <p:cNvSpPr/>
          <p:nvPr/>
        </p:nvSpPr>
        <p:spPr>
          <a:xfrm>
            <a:off x="6096000" y="4046458"/>
            <a:ext cx="5400000" cy="2520000"/>
          </a:xfrm>
          <a:prstGeom prst="roundRect">
            <a:avLst>
              <a:gd name="adj" fmla="val 802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CB6CA6-BF8E-DD64-C8FA-076D05D84218}"/>
              </a:ext>
            </a:extLst>
          </p:cNvPr>
          <p:cNvSpPr/>
          <p:nvPr/>
        </p:nvSpPr>
        <p:spPr>
          <a:xfrm>
            <a:off x="365760" y="1402080"/>
            <a:ext cx="5400000" cy="2520000"/>
          </a:xfrm>
          <a:prstGeom prst="roundRect">
            <a:avLst>
              <a:gd name="adj" fmla="val 802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49B31-3DFD-FEC1-392A-F736BFD70119}"/>
              </a:ext>
            </a:extLst>
          </p:cNvPr>
          <p:cNvSpPr txBox="1"/>
          <p:nvPr/>
        </p:nvSpPr>
        <p:spPr>
          <a:xfrm>
            <a:off x="365760" y="1402080"/>
            <a:ext cx="540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airline dataset was very large and complex, making analysis and performance optimization difficult.</a:t>
            </a:r>
          </a:p>
          <a:p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data model by using aggregations and calculated measures instead of row-level visuals.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filters and slicers to allow fast and focused analysis without  overloading visuals.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C31AB-B3BA-8593-AE8B-8E7D21A164C7}"/>
              </a:ext>
            </a:extLst>
          </p:cNvPr>
          <p:cNvSpPr txBox="1"/>
          <p:nvPr/>
        </p:nvSpPr>
        <p:spPr>
          <a:xfrm>
            <a:off x="365760" y="4043679"/>
            <a:ext cx="540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Analysing too many routes made it hard to quickly identify high-impact city pairs.</a:t>
            </a:r>
          </a:p>
          <a:p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Focusing only on the Top routes by number of flights using a filter.</a:t>
            </a:r>
          </a:p>
          <a:p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the top routes.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A0A617-A342-0FCB-8A8E-21D0173761A3}"/>
              </a:ext>
            </a:extLst>
          </p:cNvPr>
          <p:cNvSpPr/>
          <p:nvPr/>
        </p:nvSpPr>
        <p:spPr>
          <a:xfrm>
            <a:off x="2905760" y="142240"/>
            <a:ext cx="6045200" cy="883146"/>
          </a:xfrm>
          <a:prstGeom prst="roundRect">
            <a:avLst>
              <a:gd name="adj" fmla="val 25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C1061-6D63-F391-CF94-9E67D749B38D}"/>
              </a:ext>
            </a:extLst>
          </p:cNvPr>
          <p:cNvSpPr txBox="1"/>
          <p:nvPr/>
        </p:nvSpPr>
        <p:spPr>
          <a:xfrm>
            <a:off x="6250960" y="1412240"/>
            <a:ext cx="540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Analysing how many flights cover a short range of distance and long range of distance was difficult as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not straightforward.</a:t>
            </a:r>
          </a:p>
          <a:p>
            <a:endParaRPr lang="en-I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Grouped flights into distance buckets for better analysis.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 chart  for flights and distance buckets to show that the short and medium haul flights dominate.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ECA21-228C-126E-71F1-11EEC726DB89}"/>
              </a:ext>
            </a:extLst>
          </p:cNvPr>
          <p:cNvSpPr txBox="1"/>
          <p:nvPr/>
        </p:nvSpPr>
        <p:spPr>
          <a:xfrm>
            <a:off x="6250960" y="4043680"/>
            <a:ext cx="540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all the members to communicate with each other and to work simultaneously because 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everyone’s busy schedule.</a:t>
            </a:r>
          </a:p>
          <a:p>
            <a:endParaRPr lang="en-I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through zoom calls for better understanding.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Helped each other if the person is super busy. </a:t>
            </a:r>
          </a:p>
        </p:txBody>
      </p:sp>
    </p:spTree>
    <p:extLst>
      <p:ext uri="{BB962C8B-B14F-4D97-AF65-F5344CB8AC3E}">
        <p14:creationId xmlns:p14="http://schemas.microsoft.com/office/powerpoint/2010/main" val="2251948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BDD399-6177-2A42-5FB9-70D3E59E8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1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939</Words>
  <Application>Microsoft Office PowerPoint</Application>
  <PresentationFormat>Widescreen</PresentationFormat>
  <Paragraphs>163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Algerian</vt:lpstr>
      <vt:lpstr>Aptos</vt:lpstr>
      <vt:lpstr>Aptos Display</vt:lpstr>
      <vt:lpstr>Arial</vt:lpstr>
      <vt:lpstr>Calibri</vt:lpstr>
      <vt:lpstr>Times New Roman</vt:lpstr>
      <vt:lpstr>Office Theme</vt:lpstr>
      <vt:lpstr>HIGH CLOUD AIRLINES  PROJECT</vt:lpstr>
      <vt:lpstr>PowerPoint Presentation</vt:lpstr>
      <vt:lpstr>Load Factor %</vt:lpstr>
      <vt:lpstr>Total Flights Operated</vt:lpstr>
      <vt:lpstr>Total Passengers Carried</vt:lpstr>
      <vt:lpstr>Average Distance per Flight</vt:lpstr>
      <vt:lpstr>Average Air Time</vt:lpstr>
      <vt:lpstr>Load Factor % on a Yearly, Quarterly &amp; Monthly basis</vt:lpstr>
      <vt:lpstr>Load Factor % based on Carrier Name</vt:lpstr>
      <vt:lpstr>Top 10 Carrier Names based on Passenger’s Preference</vt:lpstr>
      <vt:lpstr>Top Routes (from-to city) based on No. of Flights</vt:lpstr>
      <vt:lpstr>Load Factor on Weekend vs Weekday</vt:lpstr>
      <vt:lpstr>No. of Flights based on Distance Group</vt:lpstr>
      <vt:lpstr>EXCEL DASHBOARD</vt:lpstr>
      <vt:lpstr>PowerPoint Presentation</vt:lpstr>
      <vt:lpstr>POWER BI DASHBOARD</vt:lpstr>
      <vt:lpstr>PowerPoint Presentation</vt:lpstr>
      <vt:lpstr>TABLEAU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ishta .</dc:creator>
  <cp:lastModifiedBy>TARUN PANDEY</cp:lastModifiedBy>
  <cp:revision>8</cp:revision>
  <dcterms:created xsi:type="dcterms:W3CDTF">2026-01-12T10:55:20Z</dcterms:created>
  <dcterms:modified xsi:type="dcterms:W3CDTF">2026-01-17T19:03:35Z</dcterms:modified>
</cp:coreProperties>
</file>